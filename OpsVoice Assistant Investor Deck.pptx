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1" r:id="rId2"/>
    <p:sldId id="2562" r:id="rId3"/>
    <p:sldId id="2563" r:id="rId4"/>
    <p:sldId id="2564" r:id="rId5"/>
    <p:sldId id="2565" r:id="rId6"/>
    <p:sldId id="2566" r:id="rId7"/>
    <p:sldId id="2567" r:id="rId8"/>
    <p:sldId id="2568" r:id="rId9"/>
    <p:sldId id="2569" r:id="rId10"/>
    <p:sldId id="25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sVoice Assistant: Unmasking the Black Box of Generative AI Latency – Investor Pitch Deck" id="{C1E752AF-BD88-4297-94A8-30D87251238B}">
          <p14:sldIdLst>
            <p14:sldId id="2561"/>
            <p14:sldId id="2562"/>
          </p14:sldIdLst>
        </p14:section>
        <p14:section name="The Problem: Lack of Transparency in AI-Powered Applications" id="{ED60F7CD-C512-44EE-89D6-CEE7EE7E2364}">
          <p14:sldIdLst>
            <p14:sldId id="2563"/>
            <p14:sldId id="2564"/>
            <p14:sldId id="2565"/>
            <p14:sldId id="2566"/>
          </p14:sldIdLst>
        </p14:section>
        <p14:section name="The Solution: Introducing OpsVoice – A Voice-Activated Observability Assistant" id="{B69E35D3-5089-4C34-86D4-1B0E320C26D8}">
          <p14:sldIdLst>
            <p14:sldId id="2567"/>
            <p14:sldId id="2568"/>
            <p14:sldId id="2569"/>
            <p14:sldId id="2570"/>
          </p14:sldIdLst>
        </p14:section>
        <p14:section name="Technical Workflow: How OpsVoice Works Seamlessly" id="{827CFEC9-D557-4755-9565-16CE09A573A2}">
          <p14:sldIdLst/>
        </p14:section>
        <p14:section name="Demonstrated Value: Real World Proof of Effectiveness" id="{4C86FED1-1924-4343-9BE3-8BFDD08ACCFE}">
          <p14:sldIdLst/>
        </p14:section>
        <p14:section name="Modern Tech Stack: Designed for Scale and Efficiency" id="{0087AA31-F294-4771-B198-82344C5B446F}">
          <p14:sldIdLst/>
        </p14:section>
        <p14:section name="Market Opportunity: Bridging the Gap in GenAI Observability" id="{2494EFBD-77DF-4ECE-B253-9650E3828F4B}">
          <p14:sldIdLst/>
        </p14:section>
        <p14:section name="Business Model: Scalable SaaS for Enterprise Observability" id="{1C8E1902-732F-48C1-8FBE-1556DA992952}">
          <p14:sldIdLst/>
        </p14:section>
        <p14:section name="The Team: Experts in Distributed Systems and Cloud Operations" id="{0D971F0F-56B9-4493-9EF6-1184047844E3}">
          <p14:sldIdLst/>
        </p14:section>
        <p14:section name="Call to Action: Join Us in Transforming AI Observability" id="{325331E8-5B8E-41FD-BBA2-CC3A3EDDBD85}">
          <p14:sldIdLst/>
        </p14:section>
        <p14:section name="Conclusion" id="{74B5CA86-E839-4844-B8A3-1730ABB2FA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A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80" d="100"/>
          <a:sy n="80" d="100"/>
        </p:scale>
        <p:origin x="84" y="4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0D88E4-F7B0-49A0-B4B4-124AF016CCAE}" type="datetimeFigureOut">
              <a:rPr lang="en-AE" smtClean="0"/>
              <a:t>17/12/2025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5979FC-1BBF-47DE-B74B-3F9D3C77FC0A}" type="slidenum">
              <a:rPr lang="en-AE" smtClean="0"/>
              <a:t>‹#›</a:t>
            </a:fld>
            <a:endParaRPr lang="en-AE"/>
          </a:p>
        </p:txBody>
      </p:sp>
    </p:spTree>
    <p:extLst>
      <p:ext uri="{BB962C8B-B14F-4D97-AF65-F5344CB8AC3E}">
        <p14:creationId xmlns:p14="http://schemas.microsoft.com/office/powerpoint/2010/main" val="297483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AI-generated content may be incorrect.
---
Welcome to the OpsVoice investor pitch. This presentation unveils how OpsVoice solves the critical challenge of latency transparency in AI-powered applications, offering a voice-activated observability assistant for real-time insights.
</a:t>
            </a:r>
          </a:p>
        </p:txBody>
      </p:sp>
      <p:sp>
        <p:nvSpPr>
          <p:cNvPr id="4" name="Slide Number Placeholder 3"/>
          <p:cNvSpPr>
            <a:spLocks noGrp="1"/>
          </p:cNvSpPr>
          <p:nvPr>
            <p:ph type="sldNum" sz="quarter" idx="5"/>
          </p:nvPr>
        </p:nvSpPr>
        <p:spPr/>
        <p:txBody>
          <a:bodyPr/>
          <a:lstStyle/>
          <a:p>
            <a:fld id="{1BFBBA04-CFF1-40F4-BC67-4E1328C0F48E}" type="slidenum">
              <a:rPr lang="en-AE" smtClean="0"/>
              <a:t>1</a:t>
            </a:fld>
            <a:endParaRPr lang="en-AE"/>
          </a:p>
        </p:txBody>
      </p:sp>
    </p:spTree>
    <p:extLst>
      <p:ext uri="{BB962C8B-B14F-4D97-AF65-F5344CB8AC3E}">
        <p14:creationId xmlns:p14="http://schemas.microsoft.com/office/powerpoint/2010/main" val="2241719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We will cover the problem of latency in AI applications, introduce the OpsVoice solution, explain the technical workflow, showcase real-world effectiveness, review the tech stack, explore market opportunity, discuss the business model, introduce the team, and conclude with a call to action.</a:t>
            </a:r>
          </a:p>
        </p:txBody>
      </p:sp>
      <p:sp>
        <p:nvSpPr>
          <p:cNvPr id="4" name="Slide Number Placeholder 3"/>
          <p:cNvSpPr>
            <a:spLocks noGrp="1"/>
          </p:cNvSpPr>
          <p:nvPr>
            <p:ph type="sldNum" sz="quarter" idx="5"/>
          </p:nvPr>
        </p:nvSpPr>
        <p:spPr/>
        <p:txBody>
          <a:bodyPr/>
          <a:lstStyle/>
          <a:p>
            <a:fld id="{1BFBBA04-CFF1-40F4-BC67-4E1328C0F48E}" type="slidenum">
              <a:rPr lang="en-AE" smtClean="0"/>
              <a:t>2</a:t>
            </a:fld>
            <a:endParaRPr lang="en-AE"/>
          </a:p>
        </p:txBody>
      </p:sp>
    </p:spTree>
    <p:extLst>
      <p:ext uri="{BB962C8B-B14F-4D97-AF65-F5344CB8AC3E}">
        <p14:creationId xmlns:p14="http://schemas.microsoft.com/office/powerpoint/2010/main" val="2967070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As large language models become widely adopted, observability challenges emerge. Site reliability engineers struggle to determine whether latency stems from network issues or the AI model itself. High latency negatively impacts user retention and causes revenue loss.</a:t>
            </a:r>
          </a:p>
        </p:txBody>
      </p:sp>
      <p:sp>
        <p:nvSpPr>
          <p:cNvPr id="4" name="Slide Number Placeholder 3"/>
          <p:cNvSpPr>
            <a:spLocks noGrp="1"/>
          </p:cNvSpPr>
          <p:nvPr>
            <p:ph type="sldNum" sz="quarter" idx="5"/>
          </p:nvPr>
        </p:nvSpPr>
        <p:spPr/>
        <p:txBody>
          <a:bodyPr/>
          <a:lstStyle/>
          <a:p>
            <a:fld id="{1BFBBA04-CFF1-40F4-BC67-4E1328C0F48E}" type="slidenum">
              <a:rPr lang="en-AE" smtClean="0"/>
              <a:t>3</a:t>
            </a:fld>
            <a:endParaRPr lang="en-AE"/>
          </a:p>
        </p:txBody>
      </p:sp>
    </p:spTree>
    <p:extLst>
      <p:ext uri="{BB962C8B-B14F-4D97-AF65-F5344CB8AC3E}">
        <p14:creationId xmlns:p14="http://schemas.microsoft.com/office/powerpoint/2010/main" val="2032625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
---
The rapid rise of large language models (LLMs) introduces complex latency sources that traditional monitoring tools cannot fully capture, leading to blind spots in performance diagnostics.
Image source: Microsoft 365 content library
</a:t>
            </a:r>
          </a:p>
        </p:txBody>
      </p:sp>
      <p:sp>
        <p:nvSpPr>
          <p:cNvPr id="4" name="Slide Number Placeholder 3"/>
          <p:cNvSpPr>
            <a:spLocks noGrp="1"/>
          </p:cNvSpPr>
          <p:nvPr>
            <p:ph type="sldNum" sz="quarter" idx="5"/>
          </p:nvPr>
        </p:nvSpPr>
        <p:spPr/>
        <p:txBody>
          <a:bodyPr/>
          <a:lstStyle/>
          <a:p>
            <a:fld id="{1BFBBA04-CFF1-40F4-BC67-4E1328C0F48E}" type="slidenum">
              <a:rPr lang="en-AE" smtClean="0"/>
              <a:t>4</a:t>
            </a:fld>
            <a:endParaRPr lang="en-AE"/>
          </a:p>
        </p:txBody>
      </p:sp>
    </p:spTree>
    <p:extLst>
      <p:ext uri="{BB962C8B-B14F-4D97-AF65-F5344CB8AC3E}">
        <p14:creationId xmlns:p14="http://schemas.microsoft.com/office/powerpoint/2010/main" val="1503574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
---
Site reliability engineers often face difficulties pinpointing whether delays are due to network congestion or AI model processing, which slows incident response and resolution.
Image source: Microsoft 365 content library
</a:t>
            </a:r>
          </a:p>
        </p:txBody>
      </p:sp>
      <p:sp>
        <p:nvSpPr>
          <p:cNvPr id="4" name="Slide Number Placeholder 3"/>
          <p:cNvSpPr>
            <a:spLocks noGrp="1"/>
          </p:cNvSpPr>
          <p:nvPr>
            <p:ph type="sldNum" sz="quarter" idx="5"/>
          </p:nvPr>
        </p:nvSpPr>
        <p:spPr/>
        <p:txBody>
          <a:bodyPr/>
          <a:lstStyle/>
          <a:p>
            <a:fld id="{1BFBBA04-CFF1-40F4-BC67-4E1328C0F48E}" type="slidenum">
              <a:rPr lang="en-AE" smtClean="0"/>
              <a:t>5</a:t>
            </a:fld>
            <a:endParaRPr lang="en-AE"/>
          </a:p>
        </p:txBody>
      </p:sp>
    </p:spTree>
    <p:extLst>
      <p:ext uri="{BB962C8B-B14F-4D97-AF65-F5344CB8AC3E}">
        <p14:creationId xmlns:p14="http://schemas.microsoft.com/office/powerpoint/2010/main" val="2717900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
---
Delays in AI response times degrade user experience, causing frustration that leads to diminished retention rates and ultimately impacts revenue streams negatively.
Image source: Microsoft 365 content library
</a:t>
            </a:r>
          </a:p>
        </p:txBody>
      </p:sp>
      <p:sp>
        <p:nvSpPr>
          <p:cNvPr id="4" name="Slide Number Placeholder 3"/>
          <p:cNvSpPr>
            <a:spLocks noGrp="1"/>
          </p:cNvSpPr>
          <p:nvPr>
            <p:ph type="sldNum" sz="quarter" idx="5"/>
          </p:nvPr>
        </p:nvSpPr>
        <p:spPr/>
        <p:txBody>
          <a:bodyPr/>
          <a:lstStyle/>
          <a:p>
            <a:fld id="{1BFBBA04-CFF1-40F4-BC67-4E1328C0F48E}" type="slidenum">
              <a:rPr lang="en-AE" smtClean="0"/>
              <a:t>6</a:t>
            </a:fld>
            <a:endParaRPr lang="en-AE"/>
          </a:p>
        </p:txBody>
      </p:sp>
    </p:spTree>
    <p:extLst>
      <p:ext uri="{BB962C8B-B14F-4D97-AF65-F5344CB8AC3E}">
        <p14:creationId xmlns:p14="http://schemas.microsoft.com/office/powerpoint/2010/main" val="408747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OpsVoice leverages a natural voice interface for real-time queries, visualizes AI versus application layer performance, and precisely identifies latency sources to accelerate incident response.</a:t>
            </a:r>
          </a:p>
        </p:txBody>
      </p:sp>
      <p:sp>
        <p:nvSpPr>
          <p:cNvPr id="4" name="Slide Number Placeholder 3"/>
          <p:cNvSpPr>
            <a:spLocks noGrp="1"/>
          </p:cNvSpPr>
          <p:nvPr>
            <p:ph type="sldNum" sz="quarter" idx="5"/>
          </p:nvPr>
        </p:nvSpPr>
        <p:spPr/>
        <p:txBody>
          <a:bodyPr/>
          <a:lstStyle/>
          <a:p>
            <a:fld id="{1BFBBA04-CFF1-40F4-BC67-4E1328C0F48E}" type="slidenum">
              <a:rPr lang="en-AE" smtClean="0"/>
              <a:t>7</a:t>
            </a:fld>
            <a:endParaRPr lang="en-AE"/>
          </a:p>
        </p:txBody>
      </p:sp>
    </p:spTree>
    <p:extLst>
      <p:ext uri="{BB962C8B-B14F-4D97-AF65-F5344CB8AC3E}">
        <p14:creationId xmlns:p14="http://schemas.microsoft.com/office/powerpoint/2010/main" val="369245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
---
Users can interact with OpsVoice via voice commands, enabling hands-free, immediate access to observability data and faster troubleshooting.
Image source: Microsoft 365 content library
</a:t>
            </a:r>
          </a:p>
        </p:txBody>
      </p:sp>
      <p:sp>
        <p:nvSpPr>
          <p:cNvPr id="4" name="Slide Number Placeholder 3"/>
          <p:cNvSpPr>
            <a:spLocks noGrp="1"/>
          </p:cNvSpPr>
          <p:nvPr>
            <p:ph type="sldNum" sz="quarter" idx="5"/>
          </p:nvPr>
        </p:nvSpPr>
        <p:spPr/>
        <p:txBody>
          <a:bodyPr/>
          <a:lstStyle/>
          <a:p>
            <a:fld id="{1BFBBA04-CFF1-40F4-BC67-4E1328C0F48E}" type="slidenum">
              <a:rPr lang="en-AE" smtClean="0"/>
              <a:t>8</a:t>
            </a:fld>
            <a:endParaRPr lang="en-AE"/>
          </a:p>
        </p:txBody>
      </p:sp>
    </p:spTree>
    <p:extLst>
      <p:ext uri="{BB962C8B-B14F-4D97-AF65-F5344CB8AC3E}">
        <p14:creationId xmlns:p14="http://schemas.microsoft.com/office/powerpoint/2010/main" val="2554600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
---
OpsVoice provides clear visual distinctions between AI model latency and application layer delays, empowering teams with actionable insights.
Image source: Microsoft 365 content library
</a:t>
            </a:r>
          </a:p>
        </p:txBody>
      </p:sp>
      <p:sp>
        <p:nvSpPr>
          <p:cNvPr id="4" name="Slide Number Placeholder 3"/>
          <p:cNvSpPr>
            <a:spLocks noGrp="1"/>
          </p:cNvSpPr>
          <p:nvPr>
            <p:ph type="sldNum" sz="quarter" idx="5"/>
          </p:nvPr>
        </p:nvSpPr>
        <p:spPr/>
        <p:txBody>
          <a:bodyPr/>
          <a:lstStyle/>
          <a:p>
            <a:fld id="{1BFBBA04-CFF1-40F4-BC67-4E1328C0F48E}" type="slidenum">
              <a:rPr lang="en-AE" smtClean="0"/>
              <a:t>9</a:t>
            </a:fld>
            <a:endParaRPr lang="en-AE"/>
          </a:p>
        </p:txBody>
      </p:sp>
    </p:spTree>
    <p:extLst>
      <p:ext uri="{BB962C8B-B14F-4D97-AF65-F5344CB8AC3E}">
        <p14:creationId xmlns:p14="http://schemas.microsoft.com/office/powerpoint/2010/main" val="4084131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a:t>
---
By identifying exact bottlenecks quickly, OpsVoice reduces mean time to resolution and minimizes downtime impacts.
Image source: Microsoft 365 content library
</a:t>
            </a:r>
          </a:p>
        </p:txBody>
      </p:sp>
      <p:sp>
        <p:nvSpPr>
          <p:cNvPr id="4" name="Slide Number Placeholder 3"/>
          <p:cNvSpPr>
            <a:spLocks noGrp="1"/>
          </p:cNvSpPr>
          <p:nvPr>
            <p:ph type="sldNum" sz="quarter" idx="5"/>
          </p:nvPr>
        </p:nvSpPr>
        <p:spPr/>
        <p:txBody>
          <a:bodyPr/>
          <a:lstStyle/>
          <a:p>
            <a:fld id="{1BFBBA04-CFF1-40F4-BC67-4E1328C0F48E}" type="slidenum">
              <a:rPr lang="en-AE" smtClean="0"/>
              <a:t>10</a:t>
            </a:fld>
            <a:endParaRPr lang="en-AE"/>
          </a:p>
        </p:txBody>
      </p:sp>
    </p:spTree>
    <p:extLst>
      <p:ext uri="{BB962C8B-B14F-4D97-AF65-F5344CB8AC3E}">
        <p14:creationId xmlns:p14="http://schemas.microsoft.com/office/powerpoint/2010/main" val="3085024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r>
              <a:rPr lang="en-US"/>
              <a:t>12/17/2025</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3414097793"/>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r>
              <a:rPr lang="en-US"/>
              <a:t>12/17/2025</a:t>
            </a:r>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1863160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r>
              <a:rPr lang="en-US"/>
              <a:t>12/17/2025</a:t>
            </a:r>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274072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583242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r>
              <a:rPr lang="en-US"/>
              <a:t>12/17/2025</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693439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r>
              <a:rPr lang="en-US"/>
              <a:t>12/17/2025</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000982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r>
              <a:rPr lang="en-US"/>
              <a:t>12/17/2025</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955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r>
              <a:rPr lang="en-US"/>
              <a:t>12/17/2025</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18017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6318775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15366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10759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34045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4168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367399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607611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46348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550605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04213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97826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439167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75238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904228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808611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217158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95359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861053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90668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5386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029332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796984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652654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14042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912206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235353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r>
              <a:rPr lang="en-US"/>
              <a:t>12/17/2025</a:t>
            </a:r>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47734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r>
              <a:rPr lang="en-US"/>
              <a:t>12/17/2025</a:t>
            </a:r>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781719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59234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53731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48347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9781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r>
              <a:rPr lang="en-US"/>
              <a:t>12/17/2025</a:t>
            </a:r>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a:t>OpsVoice Assistant - Devpost Hackathon</a:t>
            </a:r>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630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544941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t>12/17/2025</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60752682"/>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715929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r>
              <a:rPr lang="en-US"/>
              <a:t>12/17/2025</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OpsVoice Assistant - Devpost Hackathon</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741849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t>12/17/2025</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OpsVoice Assistant - Devpost Hackathon</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155762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r>
              <a:rPr lang="en-US"/>
              <a:t>12/17/2025</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a:t>OpsVoice Assistant - Devpost Hackathon</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8640484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hyperlink" Target="mailto:niky.sway@gmail.com" TargetMode="External"/><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1523B-A4E4-A6C9-DB36-2943EB887515}"/>
              </a:ext>
            </a:extLst>
          </p:cNvPr>
          <p:cNvSpPr>
            <a:spLocks noGrp="1"/>
          </p:cNvSpPr>
          <p:nvPr>
            <p:ph type="ctrTitle"/>
          </p:nvPr>
        </p:nvSpPr>
        <p:spPr/>
        <p:txBody>
          <a:bodyPr anchor="b">
            <a:normAutofit/>
          </a:bodyPr>
          <a:lstStyle/>
          <a:p>
            <a:r>
              <a:rPr lang="en-GB" sz="4000" i="1" dirty="0">
                <a:latin typeface="Calibri" panose="020F0502020204030204" pitchFamily="34" charset="0"/>
                <a:ea typeface="Calibri" panose="020F0502020204030204" pitchFamily="34" charset="0"/>
                <a:cs typeface="Calibri" panose="020F0502020204030204" pitchFamily="34" charset="0"/>
              </a:rPr>
              <a:t>Voice-Enabled Observability for AI Latency</a:t>
            </a:r>
            <a:br>
              <a:rPr lang="en-GB" sz="4000" i="1" dirty="0">
                <a:latin typeface="Calibri" panose="020F0502020204030204" pitchFamily="34" charset="0"/>
                <a:ea typeface="Calibri" panose="020F0502020204030204" pitchFamily="34" charset="0"/>
                <a:cs typeface="Calibri" panose="020F0502020204030204" pitchFamily="34" charset="0"/>
              </a:rPr>
            </a:br>
            <a:r>
              <a:rPr lang="en-GB" sz="4000" i="1" dirty="0">
                <a:latin typeface="Calibri" panose="020F0502020204030204" pitchFamily="34" charset="0"/>
                <a:ea typeface="Calibri" panose="020F0502020204030204" pitchFamily="34" charset="0"/>
                <a:cs typeface="Calibri" panose="020F0502020204030204" pitchFamily="34" charset="0"/>
              </a:rPr>
              <a:t>Niraj – Senior Software Engineer &amp; Product Builder</a:t>
            </a:r>
          </a:p>
        </p:txBody>
      </p:sp>
      <p:sp>
        <p:nvSpPr>
          <p:cNvPr id="3" name="Subtitle 2">
            <a:extLst>
              <a:ext uri="{FF2B5EF4-FFF2-40B4-BE49-F238E27FC236}">
                <a16:creationId xmlns:a16="http://schemas.microsoft.com/office/drawing/2014/main" id="{E77ED02C-E111-783C-6185-3B20F9F7C75A}"/>
              </a:ext>
            </a:extLst>
          </p:cNvPr>
          <p:cNvSpPr>
            <a:spLocks noGrp="1"/>
          </p:cNvSpPr>
          <p:nvPr>
            <p:ph type="subTitle" idx="1"/>
          </p:nvPr>
        </p:nvSpPr>
        <p:spPr/>
        <p:txBody>
          <a:bodyPr>
            <a:normAutofit/>
          </a:bodyPr>
          <a:lstStyle/>
          <a:p>
            <a:r>
              <a:rPr lang="en-GB" b="1" dirty="0" err="1">
                <a:latin typeface="Calibri" panose="020F0502020204030204" pitchFamily="34" charset="0"/>
                <a:ea typeface="Calibri" panose="020F0502020204030204" pitchFamily="34" charset="0"/>
                <a:cs typeface="Calibri" panose="020F0502020204030204" pitchFamily="34" charset="0"/>
              </a:rPr>
              <a:t>OpsVoice</a:t>
            </a:r>
            <a:r>
              <a:rPr lang="en-GB" b="1" dirty="0">
                <a:latin typeface="Calibri" panose="020F0502020204030204" pitchFamily="34" charset="0"/>
                <a:ea typeface="Calibri" panose="020F0502020204030204" pitchFamily="34" charset="0"/>
                <a:cs typeface="Calibri" panose="020F0502020204030204" pitchFamily="34" charset="0"/>
              </a:rPr>
              <a:t> Assistant</a:t>
            </a:r>
          </a:p>
        </p:txBody>
      </p:sp>
      <p:sp>
        <p:nvSpPr>
          <p:cNvPr id="4" name="Date Placeholder 3">
            <a:extLst>
              <a:ext uri="{FF2B5EF4-FFF2-40B4-BE49-F238E27FC236}">
                <a16:creationId xmlns:a16="http://schemas.microsoft.com/office/drawing/2014/main" id="{AD1C585C-F635-4CBA-AB9F-2282A3A28AC1}"/>
              </a:ext>
            </a:extLst>
          </p:cNvPr>
          <p:cNvSpPr>
            <a:spLocks noGrp="1"/>
          </p:cNvSpPr>
          <p:nvPr>
            <p:ph type="dt" sz="half" idx="10"/>
          </p:nvPr>
        </p:nvSpPr>
        <p:spPr/>
        <p:txBody>
          <a:bodyPr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6065110B-6172-C787-8364-7B8D5744C8A1}"/>
              </a:ext>
            </a:extLst>
          </p:cNvPr>
          <p:cNvSpPr>
            <a:spLocks noGrp="1"/>
          </p:cNvSpPr>
          <p:nvPr>
            <p:ph type="sldNum" sz="quarter" idx="12"/>
          </p:nvPr>
        </p:nvSpPr>
        <p:spPr/>
        <p:txBody>
          <a:bodyPr anchor="ctr">
            <a:normAutofit/>
          </a:bodyPr>
          <a:lstStyle/>
          <a:p>
            <a:pPr>
              <a:spcAft>
                <a:spcPts val="600"/>
              </a:spcAft>
            </a:pPr>
            <a:fld id="{84C450F2-3BB4-4AE4-8A35-A9D7AEA4C850}" type="slidenum">
              <a:rPr lang="en-US" smtClean="0"/>
              <a:pPr>
                <a:spcAft>
                  <a:spcPts val="600"/>
                </a:spcAft>
              </a:pPr>
              <a:t>1</a:t>
            </a:fld>
            <a:endParaRPr lang="en-US"/>
          </a:p>
        </p:txBody>
      </p:sp>
      <p:sp>
        <p:nvSpPr>
          <p:cNvPr id="7" name="Footer Placeholder 6">
            <a:extLst>
              <a:ext uri="{FF2B5EF4-FFF2-40B4-BE49-F238E27FC236}">
                <a16:creationId xmlns:a16="http://schemas.microsoft.com/office/drawing/2014/main" id="{423DE1A3-104C-5833-CB94-DA2FBF327D47}"/>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308606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1C6AB-D9B7-F392-6C23-06F421370935}"/>
              </a:ext>
            </a:extLst>
          </p:cNvPr>
          <p:cNvSpPr>
            <a:spLocks noGrp="1"/>
          </p:cNvSpPr>
          <p:nvPr>
            <p:ph type="title"/>
          </p:nvPr>
        </p:nvSpPr>
        <p:spPr/>
        <p:txBody>
          <a:bodyPr anchor="t">
            <a:normAutofit/>
          </a:bodyPr>
          <a:lstStyle/>
          <a:p>
            <a:pPr>
              <a:lnSpc>
                <a:spcPct val="120000"/>
              </a:lnSpc>
              <a:spcBef>
                <a:spcPts val="1000"/>
              </a:spcBef>
            </a:pPr>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Problem</a:t>
            </a:r>
            <a:endParaRPr lang="en-AE"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035A8847-3993-034B-CAB5-35120EA90F6C}"/>
              </a:ext>
            </a:extLst>
          </p:cNvPr>
          <p:cNvSpPr>
            <a:spLocks noGrp="1"/>
          </p:cNvSpPr>
          <p:nvPr>
            <p:ph type="body" idx="1"/>
            <p:extLst>
              <p:ext uri="{E7BDC344-281C-4309-B0C6-D0EE65EED2A8}">
                <p202:designPr xmlns:p202="http://schemas.microsoft.com/office/powerpoint/2020/02/main">
                  <p202:designTagLst>
                    <p202:designTag name="ARCH:1:CLS" val="BulletedText"/>
                  </p202:designTagLst>
                </p202:designPr>
              </p:ext>
            </p:extLst>
          </p:nvPr>
        </p:nvSpPr>
        <p:spPr/>
        <p:txBody>
          <a:bodyPr>
            <a:normAutofit fontScale="85000" lnSpcReduction="20000"/>
          </a:bodyPr>
          <a:lstStyle/>
          <a:p>
            <a:pPr marL="0" indent="0">
              <a:buNone/>
            </a:pPr>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 AI backends suffer from hidden latency blind spots</a:t>
            </a:r>
          </a:p>
          <a:p>
            <a:pPr marL="0" indent="0">
              <a:buNone/>
            </a:pPr>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 Traditional monitoring tools miss AI-layer delays</a:t>
            </a:r>
          </a:p>
          <a:p>
            <a:pPr marL="0" indent="0">
              <a:buNone/>
            </a:pPr>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 Slow responses → poor user retention &amp; lost revenue</a:t>
            </a:r>
          </a:p>
          <a:p>
            <a:pPr>
              <a:lnSpc>
                <a:spcPct val="110000"/>
              </a:lnSpc>
              <a:buFont typeface="Arial" panose="020B0604020202020204" pitchFamily="34" charset="0"/>
              <a:buChar char="•"/>
            </a:pPr>
            <a:endParaRPr lang="en-GB" dirty="0"/>
          </a:p>
        </p:txBody>
      </p:sp>
      <p:sp>
        <p:nvSpPr>
          <p:cNvPr id="4" name="Date Placeholder 3">
            <a:extLst>
              <a:ext uri="{FF2B5EF4-FFF2-40B4-BE49-F238E27FC236}">
                <a16:creationId xmlns:a16="http://schemas.microsoft.com/office/drawing/2014/main" id="{F7F621E0-FD80-EA46-C264-FF494A291D35}"/>
              </a:ext>
            </a:extLst>
          </p:cNvPr>
          <p:cNvSpPr>
            <a:spLocks noGrp="1"/>
          </p:cNvSpPr>
          <p:nvPr>
            <p:ph type="dt" sz="half" idx="10"/>
          </p:nvPr>
        </p:nvSpPr>
        <p:spPr/>
        <p:txBody>
          <a:bodyPr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4F169AA8-87E0-0E45-6E92-8B2A0CD907EB}"/>
              </a:ext>
            </a:extLst>
          </p:cNvPr>
          <p:cNvSpPr>
            <a:spLocks noGrp="1"/>
          </p:cNvSpPr>
          <p:nvPr>
            <p:ph type="sldNum" sz="quarter" idx="12"/>
          </p:nvPr>
        </p:nvSpPr>
        <p:spPr/>
        <p:txBody>
          <a:bodyPr anchor="ctr">
            <a:normAutofit/>
          </a:bodyPr>
          <a:lstStyle/>
          <a:p>
            <a:pPr>
              <a:spcAft>
                <a:spcPts val="600"/>
              </a:spcAft>
            </a:pPr>
            <a:fld id="{84C450F2-3BB4-4AE4-8A35-A9D7AEA4C850}" type="slidenum">
              <a:rPr lang="en-US" smtClean="0"/>
              <a:pPr>
                <a:spcAft>
                  <a:spcPts val="600"/>
                </a:spcAft>
              </a:pPr>
              <a:t>2</a:t>
            </a:fld>
            <a:endParaRPr lang="en-US"/>
          </a:p>
        </p:txBody>
      </p:sp>
      <p:sp>
        <p:nvSpPr>
          <p:cNvPr id="9" name="Footer Placeholder 8">
            <a:extLst>
              <a:ext uri="{FF2B5EF4-FFF2-40B4-BE49-F238E27FC236}">
                <a16:creationId xmlns:a16="http://schemas.microsoft.com/office/drawing/2014/main" id="{771551DD-7B12-ED89-3226-606FA3A49B91}"/>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1675933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6CF1F-323E-28A5-44BE-C82F284BEE6D}"/>
              </a:ext>
            </a:extLst>
          </p:cNvPr>
          <p:cNvSpPr>
            <a:spLocks noGrp="1"/>
          </p:cNvSpPr>
          <p:nvPr>
            <p:ph type="title"/>
          </p:nvPr>
        </p:nvSpPr>
        <p:spPr/>
        <p:txBody>
          <a:bodyPr anchor="t">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Solution</a:t>
            </a:r>
            <a:endParaRPr lang="en-AE"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Rectangle 3">
            <a:extLst>
              <a:ext uri="{FF2B5EF4-FFF2-40B4-BE49-F238E27FC236}">
                <a16:creationId xmlns:a16="http://schemas.microsoft.com/office/drawing/2014/main" id="{F063EB57-BF5E-B602-89D8-D57439F0C0A9}"/>
              </a:ext>
            </a:extLst>
          </p:cNvPr>
          <p:cNvSpPr>
            <a:spLocks noGrp="1" noChangeArrowheads="1"/>
          </p:cNvSpPr>
          <p:nvPr>
            <p:ph type="body" idx="1"/>
          </p:nvPr>
        </p:nvSpPr>
        <p:spPr bwMode="auto">
          <a:xfrm>
            <a:off x="57461" y="1113231"/>
            <a:ext cx="3369551"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Cloud Run deployment for scalable, serverless infra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Flask backend with Datadog tracing &amp; logging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Vertex AI Gemini integration for real LLM analysis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Voice-enabled queries for real-time observability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4" name="Date Placeholder 3">
            <a:extLst>
              <a:ext uri="{FF2B5EF4-FFF2-40B4-BE49-F238E27FC236}">
                <a16:creationId xmlns:a16="http://schemas.microsoft.com/office/drawing/2014/main" id="{79830397-2516-19DE-F366-34685615532C}"/>
              </a:ext>
            </a:extLst>
          </p:cNvPr>
          <p:cNvSpPr>
            <a:spLocks noGrp="1"/>
          </p:cNvSpPr>
          <p:nvPr>
            <p:ph type="dt" sz="half" idx="10"/>
          </p:nvPr>
        </p:nvSpPr>
        <p:spPr/>
        <p:txBody>
          <a:bodyPr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4117037A-8383-9331-1F10-754F010DB597}"/>
              </a:ext>
            </a:extLst>
          </p:cNvPr>
          <p:cNvSpPr>
            <a:spLocks noGrp="1"/>
          </p:cNvSpPr>
          <p:nvPr>
            <p:ph type="sldNum" sz="quarter" idx="12"/>
          </p:nvPr>
        </p:nvSpPr>
        <p:spPr/>
        <p:txBody>
          <a:bodyPr anchor="ctr">
            <a:normAutofit/>
          </a:bodyPr>
          <a:lstStyle/>
          <a:p>
            <a:pPr>
              <a:spcAft>
                <a:spcPts val="600"/>
              </a:spcAft>
            </a:pPr>
            <a:fld id="{84C450F2-3BB4-4AE4-8A35-A9D7AEA4C850}" type="slidenum">
              <a:rPr lang="en-US" smtClean="0"/>
              <a:pPr>
                <a:spcAft>
                  <a:spcPts val="600"/>
                </a:spcAft>
              </a:pPr>
              <a:t>3</a:t>
            </a:fld>
            <a:endParaRPr lang="en-US"/>
          </a:p>
        </p:txBody>
      </p:sp>
      <p:pic>
        <p:nvPicPr>
          <p:cNvPr id="10" name="Picture 9" descr="A screenshot of a computer">
            <a:extLst>
              <a:ext uri="{FF2B5EF4-FFF2-40B4-BE49-F238E27FC236}">
                <a16:creationId xmlns:a16="http://schemas.microsoft.com/office/drawing/2014/main" id="{45AD247A-9E66-C3CD-9085-37F3D5EBD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1955" y="771277"/>
            <a:ext cx="8557541" cy="4540193"/>
          </a:xfrm>
          <a:prstGeom prst="rect">
            <a:avLst/>
          </a:prstGeom>
        </p:spPr>
      </p:pic>
      <p:sp>
        <p:nvSpPr>
          <p:cNvPr id="12" name="Footer Placeholder 11">
            <a:extLst>
              <a:ext uri="{FF2B5EF4-FFF2-40B4-BE49-F238E27FC236}">
                <a16:creationId xmlns:a16="http://schemas.microsoft.com/office/drawing/2014/main" id="{8CAFE67B-D948-0EA0-775D-FE34D15B1711}"/>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2975782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E974-A182-3E39-7DB8-44C418C22604}"/>
              </a:ext>
            </a:extLst>
          </p:cNvPr>
          <p:cNvSpPr>
            <a:spLocks noGrp="1"/>
          </p:cNvSpPr>
          <p:nvPr>
            <p:ph type="title"/>
          </p:nvPr>
        </p:nvSpPr>
        <p:spPr>
          <a:xfrm>
            <a:off x="431172" y="553617"/>
            <a:ext cx="7914087" cy="821642"/>
          </a:xfrm>
        </p:spPr>
        <p:txBody>
          <a:bodyPr anchor="b">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Demo Value</a:t>
            </a:r>
            <a:endParaRPr lang="en-AE"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1">
            <a:extLst>
              <a:ext uri="{FF2B5EF4-FFF2-40B4-BE49-F238E27FC236}">
                <a16:creationId xmlns:a16="http://schemas.microsoft.com/office/drawing/2014/main" id="{CCFEB135-4051-58E9-E263-8D8EB6BA6A1E}"/>
              </a:ext>
            </a:extLst>
          </p:cNvPr>
          <p:cNvSpPr>
            <a:spLocks noGrp="1" noChangeArrowheads="1"/>
          </p:cNvSpPr>
          <p:nvPr>
            <p:ph type="body" idx="1"/>
          </p:nvPr>
        </p:nvSpPr>
        <p:spPr bwMode="auto">
          <a:xfrm>
            <a:off x="431172" y="1671958"/>
            <a:ext cx="7914087" cy="116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Detected a 33-second latency anomaly in Gemini inference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Pinpointed root cause at AI layer vs network layer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Dashboards show latency, error rates, resolution time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Judge-friendly, reproducible demo assets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Date Placeholder 3">
            <a:extLst>
              <a:ext uri="{FF2B5EF4-FFF2-40B4-BE49-F238E27FC236}">
                <a16:creationId xmlns:a16="http://schemas.microsoft.com/office/drawing/2014/main" id="{E8B0322D-0F00-F716-8EEF-BBD921A90E6E}"/>
              </a:ext>
            </a:extLst>
          </p:cNvPr>
          <p:cNvSpPr>
            <a:spLocks noGrp="1"/>
          </p:cNvSpPr>
          <p:nvPr>
            <p:ph type="dt" sz="half" idx="10"/>
          </p:nvPr>
        </p:nvSpPr>
        <p:spPr/>
        <p:txBody>
          <a:bodyPr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543DF06C-BCF4-B872-61FC-4D403AC55ED6}"/>
              </a:ext>
            </a:extLst>
          </p:cNvPr>
          <p:cNvSpPr>
            <a:spLocks noGrp="1"/>
          </p:cNvSpPr>
          <p:nvPr>
            <p:ph type="sldNum" sz="quarter" idx="12"/>
          </p:nvPr>
        </p:nvSpPr>
        <p:spPr/>
        <p:txBody>
          <a:bodyPr anchor="ctr">
            <a:normAutofit/>
          </a:bodyPr>
          <a:lstStyle/>
          <a:p>
            <a:pPr>
              <a:spcAft>
                <a:spcPts val="600"/>
              </a:spcAft>
            </a:pPr>
            <a:fld id="{84C450F2-3BB4-4AE4-8A35-A9D7AEA4C850}" type="slidenum">
              <a:rPr lang="en-US" smtClean="0"/>
              <a:pPr>
                <a:spcAft>
                  <a:spcPts val="600"/>
                </a:spcAft>
              </a:pPr>
              <a:t>4</a:t>
            </a:fld>
            <a:endParaRPr lang="en-US"/>
          </a:p>
        </p:txBody>
      </p:sp>
      <p:pic>
        <p:nvPicPr>
          <p:cNvPr id="11" name="Picture 10" descr="A screenshot of a computer">
            <a:extLst>
              <a:ext uri="{FF2B5EF4-FFF2-40B4-BE49-F238E27FC236}">
                <a16:creationId xmlns:a16="http://schemas.microsoft.com/office/drawing/2014/main" id="{A9CFCCAB-01A3-9E12-221B-BFFEF99A6A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243" y="2764471"/>
            <a:ext cx="7810723" cy="3980142"/>
          </a:xfrm>
          <a:prstGeom prst="rect">
            <a:avLst/>
          </a:prstGeom>
        </p:spPr>
      </p:pic>
      <p:sp>
        <p:nvSpPr>
          <p:cNvPr id="12" name="Footer Placeholder 11">
            <a:extLst>
              <a:ext uri="{FF2B5EF4-FFF2-40B4-BE49-F238E27FC236}">
                <a16:creationId xmlns:a16="http://schemas.microsoft.com/office/drawing/2014/main" id="{CA1D491A-4A7B-2854-5E54-4C68142A6BF5}"/>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39533548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3" name="Subtitle 22">
            <a:extLst>
              <a:ext uri="{FF2B5EF4-FFF2-40B4-BE49-F238E27FC236}">
                <a16:creationId xmlns:a16="http://schemas.microsoft.com/office/drawing/2014/main" id="{50AF7AB9-3579-5632-D217-7F10A904AE59}"/>
              </a:ext>
            </a:extLst>
          </p:cNvPr>
          <p:cNvSpPr>
            <a:spLocks noGrp="1"/>
          </p:cNvSpPr>
          <p:nvPr>
            <p:ph type="subTitle" idx="1"/>
          </p:nvPr>
        </p:nvSpPr>
        <p:spPr/>
        <p:txBody>
          <a:bodyPr/>
          <a:lstStyle/>
          <a:p>
            <a:r>
              <a:rPr lang="en-GB" b="1" dirty="0">
                <a:latin typeface="Calibri" panose="020F0502020204030204" pitchFamily="34" charset="0"/>
                <a:ea typeface="Calibri" panose="020F0502020204030204" pitchFamily="34" charset="0"/>
                <a:cs typeface="Calibri" panose="020F0502020204030204" pitchFamily="34" charset="0"/>
              </a:rPr>
              <a:t>Market Opportunity</a:t>
            </a:r>
            <a:endParaRPr lang="en-AE" dirty="0"/>
          </a:p>
        </p:txBody>
      </p:sp>
      <p:sp>
        <p:nvSpPr>
          <p:cNvPr id="4" name="Date Placeholder 3">
            <a:extLst>
              <a:ext uri="{FF2B5EF4-FFF2-40B4-BE49-F238E27FC236}">
                <a16:creationId xmlns:a16="http://schemas.microsoft.com/office/drawing/2014/main" id="{3C4B3680-5A14-0407-F48B-EDF8725CD98D}"/>
              </a:ext>
            </a:extLst>
          </p:cNvPr>
          <p:cNvSpPr>
            <a:spLocks noGrp="1"/>
          </p:cNvSpPr>
          <p:nvPr>
            <p:ph type="dt" sz="half" idx="10"/>
          </p:nvPr>
        </p:nvSpPr>
        <p:spPr/>
        <p:txBody>
          <a:bodyPr vert="horz" lIns="91440" tIns="45720" rIns="91440" bIns="45720" rtlCol="0"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B16A924D-409E-1BC3-782F-68AA9F825ABA}"/>
              </a:ext>
            </a:extLst>
          </p:cNvPr>
          <p:cNvSpPr>
            <a:spLocks noGrp="1"/>
          </p:cNvSpPr>
          <p:nvPr>
            <p:ph type="sldNum" sz="quarter" idx="12"/>
          </p:nvPr>
        </p:nvSpPr>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5</a:t>
            </a:fld>
            <a:endParaRPr lang="en-US"/>
          </a:p>
        </p:txBody>
      </p:sp>
      <p:sp>
        <p:nvSpPr>
          <p:cNvPr id="8" name="TextBox 7">
            <a:extLst>
              <a:ext uri="{FF2B5EF4-FFF2-40B4-BE49-F238E27FC236}">
                <a16:creationId xmlns:a16="http://schemas.microsoft.com/office/drawing/2014/main" id="{A3620078-7806-44A5-9747-9A998FAB789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7" y="2276856"/>
            <a:ext cx="4480560" cy="4041648"/>
          </a:xfrm>
          <a:prstGeom prst="rect">
            <a:avLst/>
          </a:prstGeom>
        </p:spPr>
        <p:txBody>
          <a:bodyPr>
            <a:normAutofit/>
          </a:bodyPr>
          <a:lstStyle/>
          <a:p>
            <a:pPr marL="0" indent="0">
              <a:spcBef>
                <a:spcPts val="2500"/>
              </a:spcBef>
              <a:spcAft>
                <a:spcPts val="600"/>
              </a:spcAft>
              <a:buFont typeface="Arial" panose="020B0604020202020204" pitchFamily="34" charset="0"/>
              <a:buNone/>
            </a:pPr>
            <a:endParaRPr lang="en-GB" sz="1400" dirty="0"/>
          </a:p>
        </p:txBody>
      </p:sp>
      <p:sp>
        <p:nvSpPr>
          <p:cNvPr id="13" name="TextBox 12">
            <a:extLst>
              <a:ext uri="{FF2B5EF4-FFF2-40B4-BE49-F238E27FC236}">
                <a16:creationId xmlns:a16="http://schemas.microsoft.com/office/drawing/2014/main" id="{B844B0DB-FEEF-5DA7-A50C-096E94C62DF9}"/>
              </a:ext>
            </a:extLst>
          </p:cNvPr>
          <p:cNvSpPr txBox="1"/>
          <p:nvPr/>
        </p:nvSpPr>
        <p:spPr>
          <a:xfrm>
            <a:off x="429767" y="1615136"/>
            <a:ext cx="3251687" cy="2246769"/>
          </a:xfrm>
          <a:prstGeom prst="rect">
            <a:avLst/>
          </a:prstGeom>
          <a:noFill/>
        </p:spPr>
        <p:txBody>
          <a:bodyPr wrap="square">
            <a:spAutoFit/>
          </a:bodyPr>
          <a:lstStyle/>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AI observability market: $20B+ by 2028</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Enterprises adopting LLMs at 40% CAGR</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GB" sz="2000" b="1" cap="all" dirty="0" err="1">
                <a:solidFill>
                  <a:schemeClr val="bg1"/>
                </a:solidFill>
                <a:latin typeface="Calibri" panose="020F0502020204030204" pitchFamily="34" charset="0"/>
                <a:ea typeface="Calibri" panose="020F0502020204030204" pitchFamily="34" charset="0"/>
                <a:cs typeface="Calibri" panose="020F0502020204030204" pitchFamily="34" charset="0"/>
              </a:rPr>
              <a:t>OpsVoice</a:t>
            </a:r>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bridges the critical AI-layer visibility gap</a:t>
            </a:r>
          </a:p>
        </p:txBody>
      </p:sp>
      <p:sp>
        <p:nvSpPr>
          <p:cNvPr id="27" name="Footer Placeholder 26">
            <a:extLst>
              <a:ext uri="{FF2B5EF4-FFF2-40B4-BE49-F238E27FC236}">
                <a16:creationId xmlns:a16="http://schemas.microsoft.com/office/drawing/2014/main" id="{46450453-6CB3-927C-BE48-7D5E67DB4A92}"/>
              </a:ext>
            </a:extLst>
          </p:cNvPr>
          <p:cNvSpPr>
            <a:spLocks noGrp="1"/>
          </p:cNvSpPr>
          <p:nvPr>
            <p:ph type="ftr" sz="quarter" idx="11"/>
          </p:nvPr>
        </p:nvSpPr>
        <p:spPr/>
        <p:txBody>
          <a:bodyPr/>
          <a:lstStyle/>
          <a:p>
            <a:r>
              <a:rPr lang="en-US"/>
              <a:t>OpsVoice Assistant - Devpost Hackathon</a:t>
            </a:r>
            <a:endParaRPr lang="en-US" dirty="0"/>
          </a:p>
        </p:txBody>
      </p:sp>
      <p:pic>
        <p:nvPicPr>
          <p:cNvPr id="29" name="Picture 28" descr="A screenshot of a computer&#10;&#10;AI-generated content may be incorrect.">
            <a:extLst>
              <a:ext uri="{FF2B5EF4-FFF2-40B4-BE49-F238E27FC236}">
                <a16:creationId xmlns:a16="http://schemas.microsoft.com/office/drawing/2014/main" id="{85CCB5AB-AAC7-9A74-2987-6C590BD61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899" y="1280780"/>
            <a:ext cx="8399228" cy="4296440"/>
          </a:xfrm>
          <a:prstGeom prst="rect">
            <a:avLst/>
          </a:prstGeom>
        </p:spPr>
      </p:pic>
    </p:spTree>
    <p:extLst>
      <p:ext uri="{BB962C8B-B14F-4D97-AF65-F5344CB8AC3E}">
        <p14:creationId xmlns:p14="http://schemas.microsoft.com/office/powerpoint/2010/main" val="316374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D3F2A-7AA5-B558-7B30-1CBE6FCBA99D}"/>
              </a:ext>
            </a:extLst>
          </p:cNvPr>
          <p:cNvSpPr>
            <a:spLocks noGrp="1"/>
          </p:cNvSpPr>
          <p:nvPr>
            <p:ph type="title"/>
          </p:nvPr>
        </p:nvSpPr>
        <p:spPr>
          <a:xfrm>
            <a:off x="429768" y="603504"/>
            <a:ext cx="4480560" cy="435254"/>
          </a:xfrm>
        </p:spPr>
        <p:txBody>
          <a:bodyPr vert="horz" lIns="91440" tIns="45720" rIns="91440" bIns="45720" rtlCol="0" anchor="b">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Business Model</a:t>
            </a:r>
            <a:endPar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BDD7680-B8C2-4C2B-8ABA-14117B96256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7" y="2276856"/>
            <a:ext cx="4480560" cy="4041648"/>
          </a:xfrm>
          <a:prstGeom prst="rect">
            <a:avLst/>
          </a:prstGeom>
        </p:spPr>
        <p:txBody>
          <a:bodyPr>
            <a:normAutofit/>
          </a:bodyPr>
          <a:lstStyle/>
          <a:p>
            <a:pPr marL="0" indent="0">
              <a:spcBef>
                <a:spcPts val="2500"/>
              </a:spcBef>
              <a:spcAft>
                <a:spcPts val="600"/>
              </a:spcAft>
              <a:buFont typeface="Arial" panose="020B0604020202020204" pitchFamily="34" charset="0"/>
              <a:buNone/>
            </a:pPr>
            <a:endParaRPr lang="en-GB" sz="1400" dirty="0"/>
          </a:p>
        </p:txBody>
      </p:sp>
      <p:sp>
        <p:nvSpPr>
          <p:cNvPr id="4" name="Date Placeholder 3">
            <a:extLst>
              <a:ext uri="{FF2B5EF4-FFF2-40B4-BE49-F238E27FC236}">
                <a16:creationId xmlns:a16="http://schemas.microsoft.com/office/drawing/2014/main" id="{7C042261-532E-04EF-AA7C-D4C9577BB460}"/>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2C81F240-A58A-FDE1-E10E-DAD4719C758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6</a:t>
            </a:fld>
            <a:endParaRPr lang="en-US"/>
          </a:p>
        </p:txBody>
      </p:sp>
      <p:sp>
        <p:nvSpPr>
          <p:cNvPr id="12" name="TextBox 11">
            <a:extLst>
              <a:ext uri="{FF2B5EF4-FFF2-40B4-BE49-F238E27FC236}">
                <a16:creationId xmlns:a16="http://schemas.microsoft.com/office/drawing/2014/main" id="{DE7D911D-7299-653C-D71B-6D82405FE508}"/>
              </a:ext>
            </a:extLst>
          </p:cNvPr>
          <p:cNvSpPr txBox="1"/>
          <p:nvPr/>
        </p:nvSpPr>
        <p:spPr>
          <a:xfrm>
            <a:off x="429767" y="2013509"/>
            <a:ext cx="6097218" cy="1323439"/>
          </a:xfrm>
          <a:prstGeom prst="rect">
            <a:avLst/>
          </a:prstGeom>
          <a:noFill/>
        </p:spPr>
        <p:txBody>
          <a:bodyPr wrap="square">
            <a:spAutoFit/>
          </a:bodyPr>
          <a:lstStyle/>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SaaS subscription for enterprise SRE teams</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Usage-based pricing tied to tokens per second</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Future: cost-per-query analytics for budget control</a:t>
            </a:r>
          </a:p>
        </p:txBody>
      </p:sp>
      <p:sp>
        <p:nvSpPr>
          <p:cNvPr id="13" name="Footer Placeholder 12">
            <a:extLst>
              <a:ext uri="{FF2B5EF4-FFF2-40B4-BE49-F238E27FC236}">
                <a16:creationId xmlns:a16="http://schemas.microsoft.com/office/drawing/2014/main" id="{1CCAB921-DFF6-DF99-DCA3-385BE5F9E8B5}"/>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40392699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26EE5-63C4-FB84-ABD3-061EF76A9CCA}"/>
              </a:ext>
            </a:extLst>
          </p:cNvPr>
          <p:cNvSpPr>
            <a:spLocks noGrp="1"/>
          </p:cNvSpPr>
          <p:nvPr>
            <p:ph type="title"/>
          </p:nvPr>
        </p:nvSpPr>
        <p:spPr>
          <a:xfrm>
            <a:off x="431172" y="553616"/>
            <a:ext cx="7914087" cy="770435"/>
          </a:xfrm>
        </p:spPr>
        <p:txBody>
          <a:bodyPr anchor="t">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Competitive Edge</a:t>
            </a:r>
            <a:endParaRPr lang="en-AE"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B91E3EBF-88B1-54A9-8060-68E85B61D622}"/>
              </a:ext>
            </a:extLst>
          </p:cNvPr>
          <p:cNvSpPr>
            <a:spLocks noGrp="1"/>
          </p:cNvSpPr>
          <p:nvPr>
            <p:ph type="dt" sz="half" idx="10"/>
          </p:nvPr>
        </p:nvSpPr>
        <p:spPr>
          <a:xfrm>
            <a:off x="431172" y="6490524"/>
            <a:ext cx="2841959" cy="336141"/>
          </a:xfrm>
        </p:spPr>
        <p:txBody>
          <a:bodyPr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6122FCEA-72DF-CC47-F94B-DC8F8F6BDF46}"/>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7</a:t>
            </a:fld>
            <a:endParaRPr lang="en-US"/>
          </a:p>
        </p:txBody>
      </p:sp>
      <p:sp>
        <p:nvSpPr>
          <p:cNvPr id="3" name="Rectangle 1">
            <a:extLst>
              <a:ext uri="{FF2B5EF4-FFF2-40B4-BE49-F238E27FC236}">
                <a16:creationId xmlns:a16="http://schemas.microsoft.com/office/drawing/2014/main" id="{5A05D923-903E-A44A-DC3B-1175F6968213}"/>
              </a:ext>
            </a:extLst>
          </p:cNvPr>
          <p:cNvSpPr>
            <a:spLocks noGrp="1" noChangeArrowheads="1"/>
          </p:cNvSpPr>
          <p:nvPr>
            <p:ph type="body" idx="1"/>
          </p:nvPr>
        </p:nvSpPr>
        <p:spPr bwMode="auto">
          <a:xfrm>
            <a:off x="490322" y="1373429"/>
            <a:ext cx="760753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Competitors: Datadog, New Relic, Elastic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Differentiator: AI-native observability + voice interface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cap="all" dirty="0">
                <a:solidFill>
                  <a:schemeClr val="bg1"/>
                </a:solidFill>
                <a:latin typeface="Calibri" panose="020F0502020204030204" pitchFamily="34" charset="0"/>
                <a:ea typeface="Calibri" panose="020F0502020204030204" pitchFamily="34" charset="0"/>
                <a:cs typeface="Calibri" panose="020F0502020204030204" pitchFamily="34" charset="0"/>
              </a:rPr>
              <a:t>Faster setup, hackathon-proven, reproducible dashboards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Footer Placeholder 6">
            <a:extLst>
              <a:ext uri="{FF2B5EF4-FFF2-40B4-BE49-F238E27FC236}">
                <a16:creationId xmlns:a16="http://schemas.microsoft.com/office/drawing/2014/main" id="{E0D89256-6940-2009-AFD7-7069B2310048}"/>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10130344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F4999-B638-3A80-5CD2-6753B371DF31}"/>
              </a:ext>
            </a:extLst>
          </p:cNvPr>
          <p:cNvSpPr>
            <a:spLocks noGrp="1"/>
          </p:cNvSpPr>
          <p:nvPr>
            <p:ph type="title"/>
          </p:nvPr>
        </p:nvSpPr>
        <p:spPr>
          <a:xfrm>
            <a:off x="341985" y="539496"/>
            <a:ext cx="4480560" cy="579730"/>
          </a:xfrm>
        </p:spPr>
        <p:txBody>
          <a:bodyPr vert="horz" lIns="91440" tIns="45720" rIns="91440" bIns="45720" rtlCol="0" anchor="b">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Team</a:t>
            </a:r>
            <a:endPar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C03D630-8BD4-4726-AAF8-2164FEC2412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7" y="2276856"/>
            <a:ext cx="4480560" cy="4041648"/>
          </a:xfrm>
          <a:prstGeom prst="rect">
            <a:avLst/>
          </a:prstGeom>
        </p:spPr>
        <p:txBody>
          <a:bodyPr>
            <a:normAutofit/>
          </a:bodyPr>
          <a:lstStyle/>
          <a:p>
            <a:pPr marL="0" indent="0">
              <a:spcBef>
                <a:spcPts val="2500"/>
              </a:spcBef>
              <a:spcAft>
                <a:spcPts val="600"/>
              </a:spcAft>
              <a:buFont typeface="Arial" panose="020B0604020202020204" pitchFamily="34" charset="0"/>
              <a:buNone/>
            </a:pPr>
            <a:endParaRPr lang="en-GB" sz="1400" dirty="0"/>
          </a:p>
        </p:txBody>
      </p:sp>
      <p:sp>
        <p:nvSpPr>
          <p:cNvPr id="4" name="Date Placeholder 3">
            <a:extLst>
              <a:ext uri="{FF2B5EF4-FFF2-40B4-BE49-F238E27FC236}">
                <a16:creationId xmlns:a16="http://schemas.microsoft.com/office/drawing/2014/main" id="{35CECC54-2256-0211-9693-7241CB3DD731}"/>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84468E95-4B85-4330-0C29-573E15968704}"/>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8</a:t>
            </a:fld>
            <a:endParaRPr lang="en-US"/>
          </a:p>
        </p:txBody>
      </p:sp>
      <p:sp>
        <p:nvSpPr>
          <p:cNvPr id="13" name="TextBox 12">
            <a:extLst>
              <a:ext uri="{FF2B5EF4-FFF2-40B4-BE49-F238E27FC236}">
                <a16:creationId xmlns:a16="http://schemas.microsoft.com/office/drawing/2014/main" id="{6D7F1B0B-8838-FD3E-9E5E-5C658DAC0E77}"/>
              </a:ext>
            </a:extLst>
          </p:cNvPr>
          <p:cNvSpPr txBox="1"/>
          <p:nvPr/>
        </p:nvSpPr>
        <p:spPr>
          <a:xfrm>
            <a:off x="429767" y="1443116"/>
            <a:ext cx="6097218" cy="1323439"/>
          </a:xfrm>
          <a:prstGeom prst="rect">
            <a:avLst/>
          </a:prstGeom>
          <a:noFill/>
        </p:spPr>
        <p:txBody>
          <a:bodyPr wrap="square">
            <a:spAutoFit/>
          </a:bodyPr>
          <a:lstStyle/>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Niraj – Backend &amp; Observability Expert (Python, Flask, Datadog, Cloud Run)</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Hackathon-proven delivery mindset</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Future hires: Sales, DevRel, Product</a:t>
            </a:r>
          </a:p>
        </p:txBody>
      </p:sp>
      <p:pic>
        <p:nvPicPr>
          <p:cNvPr id="15" name="Picture 14" descr="A person with dark hair wearing a blue shirt&#10;&#10;AI-generated content may be incorrect.">
            <a:extLst>
              <a:ext uri="{FF2B5EF4-FFF2-40B4-BE49-F238E27FC236}">
                <a16:creationId xmlns:a16="http://schemas.microsoft.com/office/drawing/2014/main" id="{8BBC0AF4-74A3-F0B1-2F07-34E1473A2E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352" y="3221126"/>
            <a:ext cx="1548384" cy="1981200"/>
          </a:xfrm>
          <a:prstGeom prst="rect">
            <a:avLst/>
          </a:prstGeom>
        </p:spPr>
      </p:pic>
      <p:sp>
        <p:nvSpPr>
          <p:cNvPr id="16" name="Footer Placeholder 15">
            <a:extLst>
              <a:ext uri="{FF2B5EF4-FFF2-40B4-BE49-F238E27FC236}">
                <a16:creationId xmlns:a16="http://schemas.microsoft.com/office/drawing/2014/main" id="{42DCA98E-361A-316A-C880-3A7CFDD47C53}"/>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38636800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5F773-CEEB-5437-0C4C-222F438C5135}"/>
              </a:ext>
            </a:extLst>
          </p:cNvPr>
          <p:cNvSpPr>
            <a:spLocks noGrp="1"/>
          </p:cNvSpPr>
          <p:nvPr>
            <p:ph type="title"/>
          </p:nvPr>
        </p:nvSpPr>
        <p:spPr>
          <a:xfrm>
            <a:off x="590703" y="31335"/>
            <a:ext cx="2750514" cy="802598"/>
          </a:xfrm>
        </p:spPr>
        <p:txBody>
          <a:bodyPr vert="horz" lIns="91440" tIns="45720" rIns="91440" bIns="45720" rtlCol="0" anchor="b">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Ask</a:t>
            </a:r>
            <a:endPar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5564DD7D-6D5D-4E86-A356-7F12E42206B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endParaRPr lang="en-GB" sz="1000" dirty="0"/>
          </a:p>
        </p:txBody>
      </p:sp>
      <p:sp>
        <p:nvSpPr>
          <p:cNvPr id="4" name="Date Placeholder 3">
            <a:extLst>
              <a:ext uri="{FF2B5EF4-FFF2-40B4-BE49-F238E27FC236}">
                <a16:creationId xmlns:a16="http://schemas.microsoft.com/office/drawing/2014/main" id="{88B0E28A-D457-C86E-97EA-A27451442BB1}"/>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246B9F37-E8D8-A915-FCC4-52683B1B65D8}"/>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9</a:t>
            </a:fld>
            <a:endParaRPr lang="en-US"/>
          </a:p>
        </p:txBody>
      </p:sp>
      <p:sp>
        <p:nvSpPr>
          <p:cNvPr id="11" name="TextBox 10">
            <a:extLst>
              <a:ext uri="{FF2B5EF4-FFF2-40B4-BE49-F238E27FC236}">
                <a16:creationId xmlns:a16="http://schemas.microsoft.com/office/drawing/2014/main" id="{FDCE50FA-8EE0-18F8-BF89-C89A871D23EB}"/>
              </a:ext>
            </a:extLst>
          </p:cNvPr>
          <p:cNvSpPr txBox="1"/>
          <p:nvPr/>
        </p:nvSpPr>
        <p:spPr>
          <a:xfrm>
            <a:off x="590703" y="1215404"/>
            <a:ext cx="6097218" cy="1631216"/>
          </a:xfrm>
          <a:prstGeom prst="rect">
            <a:avLst/>
          </a:prstGeom>
          <a:noFill/>
        </p:spPr>
        <p:txBody>
          <a:bodyPr wrap="square">
            <a:spAutoFit/>
          </a:bodyPr>
          <a:lstStyle/>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Seeking $500K seed funding</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Funds for infra scaling, GTM, and enterprise pilots</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Goal: onboard 10 enterprise customers in 18 months</a:t>
            </a:r>
          </a:p>
        </p:txBody>
      </p:sp>
      <p:sp>
        <p:nvSpPr>
          <p:cNvPr id="12" name="Footer Placeholder 11">
            <a:extLst>
              <a:ext uri="{FF2B5EF4-FFF2-40B4-BE49-F238E27FC236}">
                <a16:creationId xmlns:a16="http://schemas.microsoft.com/office/drawing/2014/main" id="{001CB7A5-03C1-7245-22EB-0F2B9FDC1DAF}"/>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2474343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FA7C-2CE4-5CCC-4CFC-2A6400C38EB2}"/>
              </a:ext>
            </a:extLst>
          </p:cNvPr>
          <p:cNvSpPr>
            <a:spLocks noGrp="1"/>
          </p:cNvSpPr>
          <p:nvPr>
            <p:ph type="title"/>
          </p:nvPr>
        </p:nvSpPr>
        <p:spPr>
          <a:xfrm>
            <a:off x="429768" y="603504"/>
            <a:ext cx="3401568" cy="1527048"/>
          </a:xfrm>
        </p:spPr>
        <p:txBody>
          <a:bodyPr vert="horz" lIns="91440" tIns="45720" rIns="91440" bIns="45720" rtlCol="0" anchor="b">
            <a:normAutofit/>
          </a:bodyPr>
          <a:lstStyle/>
          <a:p>
            <a:r>
              <a:rPr lang="en-GB" sz="2000" b="1" dirty="0">
                <a:solidFill>
                  <a:schemeClr val="bg1"/>
                </a:solidFill>
                <a:latin typeface="Calibri" panose="020F0502020204030204" pitchFamily="34" charset="0"/>
                <a:ea typeface="Calibri" panose="020F0502020204030204" pitchFamily="34" charset="0"/>
                <a:cs typeface="Calibri" panose="020F0502020204030204" pitchFamily="34" charset="0"/>
              </a:rPr>
              <a:t>Vision</a:t>
            </a:r>
            <a:endPar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1F4EBDA-70FD-49F4-8533-89D8663AF891}"/>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endParaRPr lang="en-GB" sz="1400" dirty="0"/>
          </a:p>
        </p:txBody>
      </p:sp>
      <p:sp>
        <p:nvSpPr>
          <p:cNvPr id="4" name="Date Placeholder 3">
            <a:extLst>
              <a:ext uri="{FF2B5EF4-FFF2-40B4-BE49-F238E27FC236}">
                <a16:creationId xmlns:a16="http://schemas.microsoft.com/office/drawing/2014/main" id="{C7086D3B-D052-D0CF-DCB3-3208534027FE}"/>
              </a:ext>
            </a:extLst>
          </p:cNvPr>
          <p:cNvSpPr>
            <a:spLocks noGrp="1"/>
          </p:cNvSpPr>
          <p:nvPr>
            <p:ph type="dt" sz="half" idx="10"/>
          </p:nvPr>
        </p:nvSpPr>
        <p:spPr>
          <a:xfrm>
            <a:off x="431172" y="6490524"/>
            <a:ext cx="2841959" cy="336141"/>
          </a:xfrm>
        </p:spPr>
        <p:txBody>
          <a:bodyPr vert="horz" lIns="91440" tIns="45720" rIns="91440" bIns="45720" rtlCol="0" anchor="ctr">
            <a:normAutofit/>
          </a:bodyPr>
          <a:lstStyle/>
          <a:p>
            <a:pPr>
              <a:spcAft>
                <a:spcPts val="600"/>
              </a:spcAft>
            </a:pPr>
            <a:r>
              <a:rPr lang="en-US"/>
              <a:t>12/17/2025</a:t>
            </a:r>
          </a:p>
        </p:txBody>
      </p:sp>
      <p:sp>
        <p:nvSpPr>
          <p:cNvPr id="6" name="Slide Number Placeholder 5">
            <a:extLst>
              <a:ext uri="{FF2B5EF4-FFF2-40B4-BE49-F238E27FC236}">
                <a16:creationId xmlns:a16="http://schemas.microsoft.com/office/drawing/2014/main" id="{0E1B607A-45E7-8287-A25C-1B739F6D6120}"/>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10</a:t>
            </a:fld>
            <a:endParaRPr lang="en-US"/>
          </a:p>
        </p:txBody>
      </p:sp>
      <p:sp>
        <p:nvSpPr>
          <p:cNvPr id="11" name="TextBox 10">
            <a:extLst>
              <a:ext uri="{FF2B5EF4-FFF2-40B4-BE49-F238E27FC236}">
                <a16:creationId xmlns:a16="http://schemas.microsoft.com/office/drawing/2014/main" id="{22158E25-0485-D5CF-E350-2AEF213A03D6}"/>
              </a:ext>
            </a:extLst>
          </p:cNvPr>
          <p:cNvSpPr txBox="1"/>
          <p:nvPr/>
        </p:nvSpPr>
        <p:spPr>
          <a:xfrm>
            <a:off x="429768" y="2581458"/>
            <a:ext cx="6097218" cy="1015663"/>
          </a:xfrm>
          <a:prstGeom prst="rect">
            <a:avLst/>
          </a:prstGeom>
          <a:noFill/>
        </p:spPr>
        <p:txBody>
          <a:bodyPr wrap="square">
            <a:spAutoFit/>
          </a:bodyPr>
          <a:lstStyle/>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“Stop guessing. Start observing AI performance in real time.”</a:t>
            </a:r>
          </a:p>
          <a:p>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Contact: </a:t>
            </a:r>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hlinkClick r:id="rId3"/>
              </a:rPr>
              <a:t>niky.sway@gmail.com</a:t>
            </a:r>
            <a:r>
              <a:rPr lang="en-GB" sz="2000" b="1" cap="all" dirty="0">
                <a:solidFill>
                  <a:schemeClr val="bg1"/>
                </a:solidFill>
                <a:latin typeface="Calibri" panose="020F0502020204030204" pitchFamily="34" charset="0"/>
                <a:ea typeface="Calibri" panose="020F0502020204030204" pitchFamily="34" charset="0"/>
                <a:cs typeface="Calibri" panose="020F0502020204030204" pitchFamily="34" charset="0"/>
              </a:rPr>
              <a:t> </a:t>
            </a:r>
          </a:p>
        </p:txBody>
      </p:sp>
      <p:sp>
        <p:nvSpPr>
          <p:cNvPr id="12" name="Footer Placeholder 11">
            <a:extLst>
              <a:ext uri="{FF2B5EF4-FFF2-40B4-BE49-F238E27FC236}">
                <a16:creationId xmlns:a16="http://schemas.microsoft.com/office/drawing/2014/main" id="{053BFF08-3F5A-09FC-BB4B-0C2D726E25B9}"/>
              </a:ext>
            </a:extLst>
          </p:cNvPr>
          <p:cNvSpPr>
            <a:spLocks noGrp="1"/>
          </p:cNvSpPr>
          <p:nvPr>
            <p:ph type="ftr" sz="quarter" idx="11"/>
          </p:nvPr>
        </p:nvSpPr>
        <p:spPr/>
        <p:txBody>
          <a:bodyPr/>
          <a:lstStyle/>
          <a:p>
            <a:r>
              <a:rPr lang="en-US"/>
              <a:t>OpsVoice Assistant - Devpost Hackathon</a:t>
            </a:r>
            <a:endParaRPr lang="en-US" dirty="0"/>
          </a:p>
        </p:txBody>
      </p:sp>
    </p:spTree>
    <p:extLst>
      <p:ext uri="{BB962C8B-B14F-4D97-AF65-F5344CB8AC3E}">
        <p14:creationId xmlns:p14="http://schemas.microsoft.com/office/powerpoint/2010/main" val="1760561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250"/>
                                  </p:stCondLst>
                                  <p:endCondLst>
                                    <p:cond evt="begin" delay="0">
                                      <p:tn val="5"/>
                                    </p:cond>
                                  </p:end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729</Words>
  <Application>Microsoft Office PowerPoint</Application>
  <PresentationFormat>Widescreen</PresentationFormat>
  <Paragraphs>89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Neue Haas Grotesk Text Pro</vt:lpstr>
      <vt:lpstr>OasisVTI</vt:lpstr>
      <vt:lpstr>Voice-Enabled Observability for AI Latency Niraj – Senior Software Engineer &amp; Product Builder</vt:lpstr>
      <vt:lpstr>Problem</vt:lpstr>
      <vt:lpstr>Solution</vt:lpstr>
      <vt:lpstr>Demo Value</vt:lpstr>
      <vt:lpstr>PowerPoint Presentation</vt:lpstr>
      <vt:lpstr>Business Model</vt:lpstr>
      <vt:lpstr>Competitive Edge</vt:lpstr>
      <vt:lpstr>Team</vt:lpstr>
      <vt:lpstr>Ask</vt:lpstr>
      <vt:lpstr>Vision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Niraj Adhikary</dc:creator>
  <cp:lastModifiedBy>Niraj Adhikary</cp:lastModifiedBy>
  <cp:revision>92</cp:revision>
  <dcterms:created xsi:type="dcterms:W3CDTF">2025-12-17T15:09:20Z</dcterms:created>
  <dcterms:modified xsi:type="dcterms:W3CDTF">2025-12-17T16:17:33Z</dcterms:modified>
</cp:coreProperties>
</file>